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0" r:id="rId5"/>
    <p:sldId id="259" r:id="rId6"/>
    <p:sldId id="262" r:id="rId7"/>
    <p:sldId id="263" r:id="rId8"/>
    <p:sldId id="265" r:id="rId9"/>
    <p:sldId id="261" r:id="rId10"/>
    <p:sldId id="264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6DFF0-FC56-491F-ADBB-467B1249CE05}" type="datetimeFigureOut">
              <a:rPr lang="ko-KR" altLang="en-US" smtClean="0"/>
              <a:t>2020-07-31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B406E-3F04-4FCB-986B-DF91726EA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9284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6DFF0-FC56-491F-ADBB-467B1249CE05}" type="datetimeFigureOut">
              <a:rPr lang="ko-KR" altLang="en-US" smtClean="0"/>
              <a:t>2020-07-31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B406E-3F04-4FCB-986B-DF91726EA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8364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6DFF0-FC56-491F-ADBB-467B1249CE05}" type="datetimeFigureOut">
              <a:rPr lang="ko-KR" altLang="en-US" smtClean="0"/>
              <a:t>2020-07-31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B406E-3F04-4FCB-986B-DF91726EA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4024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6DFF0-FC56-491F-ADBB-467B1249CE05}" type="datetimeFigureOut">
              <a:rPr lang="ko-KR" altLang="en-US" smtClean="0"/>
              <a:t>2020-07-31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B406E-3F04-4FCB-986B-DF91726EA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4993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6DFF0-FC56-491F-ADBB-467B1249CE05}" type="datetimeFigureOut">
              <a:rPr lang="ko-KR" altLang="en-US" smtClean="0"/>
              <a:t>2020-07-31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B406E-3F04-4FCB-986B-DF91726EA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5024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6DFF0-FC56-491F-ADBB-467B1249CE05}" type="datetimeFigureOut">
              <a:rPr lang="ko-KR" altLang="en-US" smtClean="0"/>
              <a:t>2020-07-31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B406E-3F04-4FCB-986B-DF91726EA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782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6DFF0-FC56-491F-ADBB-467B1249CE05}" type="datetimeFigureOut">
              <a:rPr lang="ko-KR" altLang="en-US" smtClean="0"/>
              <a:t>2020-07-31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B406E-3F04-4FCB-986B-DF91726EA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9546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6DFF0-FC56-491F-ADBB-467B1249CE05}" type="datetimeFigureOut">
              <a:rPr lang="ko-KR" altLang="en-US" smtClean="0"/>
              <a:t>2020-07-31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B406E-3F04-4FCB-986B-DF91726EA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9939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6DFF0-FC56-491F-ADBB-467B1249CE05}" type="datetimeFigureOut">
              <a:rPr lang="ko-KR" altLang="en-US" smtClean="0"/>
              <a:t>2020-07-31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B406E-3F04-4FCB-986B-DF91726EA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324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6DFF0-FC56-491F-ADBB-467B1249CE05}" type="datetimeFigureOut">
              <a:rPr lang="ko-KR" altLang="en-US" smtClean="0"/>
              <a:t>2020-07-31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B406E-3F04-4FCB-986B-DF91726EA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5098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6DFF0-FC56-491F-ADBB-467B1249CE05}" type="datetimeFigureOut">
              <a:rPr lang="ko-KR" altLang="en-US" smtClean="0"/>
              <a:t>2020-07-31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B406E-3F04-4FCB-986B-DF91726EA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92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66DFF0-FC56-491F-ADBB-467B1249CE05}" type="datetimeFigureOut">
              <a:rPr lang="ko-KR" altLang="en-US" smtClean="0"/>
              <a:t>2020-07-31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2B406E-3F04-4FCB-986B-DF91726EA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43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309" y="0"/>
            <a:ext cx="10974853" cy="6858000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637309" y="0"/>
            <a:ext cx="10991273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6" name="그룹 15"/>
          <p:cNvGrpSpPr/>
          <p:nvPr/>
        </p:nvGrpSpPr>
        <p:grpSpPr>
          <a:xfrm>
            <a:off x="3217076" y="2197732"/>
            <a:ext cx="8188037" cy="2363475"/>
            <a:chOff x="3217076" y="2382452"/>
            <a:chExt cx="8188037" cy="2363475"/>
          </a:xfrm>
        </p:grpSpPr>
        <p:sp>
          <p:nvSpPr>
            <p:cNvPr id="11" name="TextBox 10"/>
            <p:cNvSpPr txBox="1"/>
            <p:nvPr/>
          </p:nvSpPr>
          <p:spPr>
            <a:xfrm>
              <a:off x="3217076" y="2382452"/>
              <a:ext cx="6481106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0" dirty="0" smtClean="0">
                  <a:latin typeface="Arial Black" panose="020B0A04020102020204" pitchFamily="34" charset="0"/>
                </a:rPr>
                <a:t>Serious</a:t>
              </a:r>
              <a:endParaRPr lang="ko-KR" altLang="en-US" sz="12000" dirty="0">
                <a:latin typeface="Arial Black" panose="020B0A04020102020204" pitchFamily="34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124735" y="4099596"/>
              <a:ext cx="528037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smtClean="0">
                  <a:latin typeface="Arial Black" panose="020B0A04020102020204" pitchFamily="34" charset="0"/>
                </a:rPr>
                <a:t>A Tower Defense Game </a:t>
              </a:r>
            </a:p>
            <a:p>
              <a:r>
                <a:rPr lang="en-US" altLang="ko-KR" dirty="0">
                  <a:latin typeface="Arial Black" panose="020B0A04020102020204" pitchFamily="34" charset="0"/>
                </a:rPr>
                <a:t>	</a:t>
              </a:r>
              <a:r>
                <a:rPr lang="en-US" altLang="ko-KR" dirty="0" smtClean="0">
                  <a:latin typeface="Arial Black" panose="020B0A04020102020204" pitchFamily="34" charset="0"/>
                </a:rPr>
                <a:t>Using with Math Problem Solving</a:t>
              </a:r>
              <a:endParaRPr lang="ko-KR" altLang="en-US" dirty="0">
                <a:latin typeface="Arial Black" panose="020B0A04020102020204" pitchFamily="34" charset="0"/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9923574" y="5746415"/>
            <a:ext cx="16476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임경태</a:t>
            </a:r>
            <a:endParaRPr lang="ko-KR" altLang="en-US" sz="36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923574" y="6392746"/>
            <a:ext cx="1577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Arial Black" panose="020B0A04020102020204" pitchFamily="34" charset="0"/>
              </a:rPr>
              <a:t>2020-07-31</a:t>
            </a:r>
            <a:endParaRPr lang="ko-KR" altLang="en-US" b="1" dirty="0">
              <a:latin typeface="Arial Black" panose="020B0A04020102020204" pitchFamily="34" charset="0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804590" y="164144"/>
            <a:ext cx="3093155" cy="646331"/>
            <a:chOff x="804590" y="164144"/>
            <a:chExt cx="3093155" cy="646331"/>
          </a:xfrm>
        </p:grpSpPr>
        <p:sp>
          <p:nvSpPr>
            <p:cNvPr id="12" name="TextBox 11"/>
            <p:cNvSpPr txBox="1"/>
            <p:nvPr/>
          </p:nvSpPr>
          <p:spPr>
            <a:xfrm>
              <a:off x="804590" y="164144"/>
              <a:ext cx="30931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600" b="1" dirty="0" smtClean="0">
                  <a:latin typeface="Arial Black" panose="020B0A04020102020204" pitchFamily="34" charset="0"/>
                </a:rPr>
                <a:t>Concept</a:t>
              </a:r>
              <a:r>
                <a:rPr lang="ko-KR" altLang="en-US" sz="3600" b="1" dirty="0" smtClean="0">
                  <a:latin typeface="Arial Black" panose="020B0A04020102020204" pitchFamily="34" charset="0"/>
                </a:rPr>
                <a:t> </a:t>
              </a:r>
              <a:r>
                <a:rPr lang="en-US" altLang="ko-KR" sz="3600" b="1" dirty="0" smtClean="0">
                  <a:latin typeface="Arial Black" panose="020B0A04020102020204" pitchFamily="34" charset="0"/>
                </a:rPr>
                <a:t>PT</a:t>
              </a:r>
              <a:r>
                <a:rPr lang="ko-KR" altLang="en-US" sz="3600" b="1" dirty="0" smtClean="0">
                  <a:latin typeface="Arial Black" panose="020B0A04020102020204" pitchFamily="34" charset="0"/>
                </a:rPr>
                <a:t> </a:t>
              </a:r>
              <a:endParaRPr lang="ko-KR" altLang="en-US" sz="3600" b="1" dirty="0">
                <a:latin typeface="Arial Black" panose="020B0A04020102020204" pitchFamily="34" charset="0"/>
              </a:endParaRPr>
            </a:p>
          </p:txBody>
        </p:sp>
        <p:cxnSp>
          <p:nvCxnSpPr>
            <p:cNvPr id="3" name="직선 연결선 2"/>
            <p:cNvCxnSpPr/>
            <p:nvPr/>
          </p:nvCxnSpPr>
          <p:spPr>
            <a:xfrm>
              <a:off x="932873" y="775701"/>
              <a:ext cx="2835563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88495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3126315" y="612766"/>
            <a:ext cx="584472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5600" b="1" dirty="0" err="1"/>
              <a:t>시리어스</a:t>
            </a:r>
            <a:r>
              <a:rPr lang="en-US" altLang="ko-KR" sz="5600" b="1" dirty="0" smtClean="0"/>
              <a:t>(Serious)</a:t>
            </a:r>
            <a:endParaRPr lang="ko-KR" altLang="ko-KR" sz="5600" dirty="0"/>
          </a:p>
        </p:txBody>
      </p:sp>
      <p:sp>
        <p:nvSpPr>
          <p:cNvPr id="3" name="TextBox 2"/>
          <p:cNvSpPr txBox="1"/>
          <p:nvPr/>
        </p:nvSpPr>
        <p:spPr>
          <a:xfrm>
            <a:off x="6161072" y="2365763"/>
            <a:ext cx="51507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u="sng" dirty="0" smtClean="0"/>
              <a:t>공격 타워</a:t>
            </a:r>
            <a:r>
              <a:rPr lang="en-US" altLang="ko-KR" sz="2000" b="1" u="sng" dirty="0" smtClean="0"/>
              <a:t>, </a:t>
            </a:r>
            <a:r>
              <a:rPr lang="ko-KR" altLang="en-US" sz="2000" b="1" u="sng" dirty="0" smtClean="0"/>
              <a:t>방해 오브젝트 배치 디펜스 게임</a:t>
            </a:r>
            <a:endParaRPr lang="ko-KR" altLang="en-US" sz="2000" b="1" u="sng" dirty="0"/>
          </a:p>
        </p:txBody>
      </p:sp>
      <p:sp>
        <p:nvSpPr>
          <p:cNvPr id="5" name="TextBox 4"/>
          <p:cNvSpPr txBox="1"/>
          <p:nvPr/>
        </p:nvSpPr>
        <p:spPr>
          <a:xfrm>
            <a:off x="8358788" y="2873595"/>
            <a:ext cx="29530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smtClean="0"/>
              <a:t>안드로이드 </a:t>
            </a:r>
            <a:r>
              <a:rPr lang="en-US" altLang="ko-KR" sz="1600" b="1" dirty="0" smtClean="0"/>
              <a:t>/ IOS </a:t>
            </a:r>
            <a:r>
              <a:rPr lang="ko-KR" altLang="en-US" sz="1600" b="1" dirty="0" smtClean="0"/>
              <a:t>모바일 게임</a:t>
            </a:r>
            <a:endParaRPr lang="ko-KR" altLang="en-US" sz="16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10283920" y="3223176"/>
            <a:ext cx="9909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smtClean="0"/>
              <a:t>8</a:t>
            </a:r>
            <a:r>
              <a:rPr lang="ko-KR" altLang="en-US" sz="1600" b="1" dirty="0" smtClean="0"/>
              <a:t>세 이상</a:t>
            </a:r>
            <a:endParaRPr lang="ko-KR" altLang="en-US" sz="1600" b="1" dirty="0"/>
          </a:p>
        </p:txBody>
      </p:sp>
      <p:grpSp>
        <p:nvGrpSpPr>
          <p:cNvPr id="22" name="그룹 21"/>
          <p:cNvGrpSpPr/>
          <p:nvPr/>
        </p:nvGrpSpPr>
        <p:grpSpPr>
          <a:xfrm>
            <a:off x="797485" y="2531440"/>
            <a:ext cx="4657660" cy="2773038"/>
            <a:chOff x="628075" y="2263592"/>
            <a:chExt cx="4657660" cy="2773038"/>
          </a:xfrm>
        </p:grpSpPr>
        <p:sp>
          <p:nvSpPr>
            <p:cNvPr id="4" name="직사각형 3"/>
            <p:cNvSpPr/>
            <p:nvPr/>
          </p:nvSpPr>
          <p:spPr>
            <a:xfrm>
              <a:off x="628075" y="3121578"/>
              <a:ext cx="1810325" cy="109337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u="sng" dirty="0" smtClean="0">
                  <a:solidFill>
                    <a:schemeClr val="tx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수학 문제</a:t>
              </a:r>
              <a:r>
                <a:rPr lang="ko-KR" altLang="en-US" sz="1400" dirty="0" smtClean="0">
                  <a:solidFill>
                    <a:schemeClr val="tx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를 푼다</a:t>
              </a:r>
              <a:endParaRPr lang="ko-KR" altLang="en-US" sz="14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3475410" y="3149600"/>
              <a:ext cx="1810325" cy="109337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u="sng" smtClean="0">
                  <a:solidFill>
                    <a:schemeClr val="tx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몬스터</a:t>
              </a:r>
              <a:r>
                <a:rPr lang="ko-KR" altLang="en-US" sz="1400" smtClean="0">
                  <a:solidFill>
                    <a:schemeClr val="tx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를 막는다</a:t>
              </a:r>
              <a:endParaRPr lang="ko-KR" altLang="en-US" sz="14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cxnSp>
          <p:nvCxnSpPr>
            <p:cNvPr id="12" name="꺾인 연결선 11"/>
            <p:cNvCxnSpPr>
              <a:stCxn id="4" idx="0"/>
              <a:endCxn id="9" idx="0"/>
            </p:cNvCxnSpPr>
            <p:nvPr/>
          </p:nvCxnSpPr>
          <p:spPr>
            <a:xfrm rot="16200000" flipH="1">
              <a:off x="2942894" y="1711922"/>
              <a:ext cx="28022" cy="2847335"/>
            </a:xfrm>
            <a:prstGeom prst="bentConnector3">
              <a:avLst>
                <a:gd name="adj1" fmla="val -1837581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꺾인 연결선 14"/>
            <p:cNvCxnSpPr>
              <a:stCxn id="9" idx="2"/>
              <a:endCxn id="4" idx="2"/>
            </p:cNvCxnSpPr>
            <p:nvPr/>
          </p:nvCxnSpPr>
          <p:spPr>
            <a:xfrm rot="5400000" flipH="1">
              <a:off x="2942895" y="2805297"/>
              <a:ext cx="28022" cy="2847335"/>
            </a:xfrm>
            <a:prstGeom prst="bentConnector3">
              <a:avLst>
                <a:gd name="adj1" fmla="val -1705745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2197723" y="2263592"/>
              <a:ext cx="151836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공격 타워를 짓는다</a:t>
              </a:r>
              <a:endParaRPr lang="ko-KR" altLang="en-US" sz="12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194487" y="2636565"/>
              <a:ext cx="151836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방해 건물을 짓는다</a:t>
              </a:r>
              <a:endParaRPr lang="ko-KR" altLang="en-US" sz="12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194487" y="4386658"/>
              <a:ext cx="151836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다음 문제가 열린다</a:t>
              </a:r>
              <a:endParaRPr lang="ko-KR" altLang="en-US" sz="12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191251" y="4759631"/>
              <a:ext cx="151836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상위 건물이 열린다</a:t>
              </a:r>
              <a:endParaRPr lang="ko-KR" altLang="en-US" sz="12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grpSp>
        <p:nvGrpSpPr>
          <p:cNvPr id="26" name="그룹 25"/>
          <p:cNvGrpSpPr/>
          <p:nvPr/>
        </p:nvGrpSpPr>
        <p:grpSpPr>
          <a:xfrm>
            <a:off x="6464571" y="4025884"/>
            <a:ext cx="4911922" cy="1297007"/>
            <a:chOff x="6362975" y="3988940"/>
            <a:chExt cx="4911922" cy="1297007"/>
          </a:xfrm>
        </p:grpSpPr>
        <p:sp>
          <p:nvSpPr>
            <p:cNvPr id="23" name="TextBox 22"/>
            <p:cNvSpPr txBox="1"/>
            <p:nvPr/>
          </p:nvSpPr>
          <p:spPr>
            <a:xfrm>
              <a:off x="6362975" y="3988940"/>
              <a:ext cx="49119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/>
                <a:t>기존 단순 계산 위주의 교육용 게임들이 아닌 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604613" y="4469799"/>
              <a:ext cx="36407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 smtClean="0"/>
                <a:t>‘</a:t>
              </a:r>
              <a:r>
                <a:rPr lang="ko-KR" altLang="en-US" b="1" u="sng" dirty="0" smtClean="0"/>
                <a:t>디펜스</a:t>
              </a:r>
              <a:r>
                <a:rPr lang="en-US" altLang="ko-KR" b="1" dirty="0" smtClean="0"/>
                <a:t>’ </a:t>
              </a:r>
              <a:r>
                <a:rPr lang="ko-KR" altLang="en-US" b="1" dirty="0" smtClean="0"/>
                <a:t>라는 </a:t>
              </a:r>
              <a:r>
                <a:rPr lang="ko-KR" altLang="en-US" b="1" dirty="0" err="1" smtClean="0"/>
                <a:t>게임성을</a:t>
              </a:r>
              <a:r>
                <a:rPr lang="ko-KR" altLang="en-US" b="1" dirty="0" smtClean="0"/>
                <a:t> 부여하여 </a:t>
              </a:r>
              <a:endParaRPr lang="en-US" altLang="ko-KR" b="1" dirty="0" smtClean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668733" y="4916615"/>
              <a:ext cx="35125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/>
                <a:t>대상 연령 학생들의 학습을 유도</a:t>
              </a:r>
              <a:endParaRPr lang="ko-KR" altLang="en-US" b="1" dirty="0"/>
            </a:p>
          </p:txBody>
        </p:sp>
      </p:grpSp>
      <p:grpSp>
        <p:nvGrpSpPr>
          <p:cNvPr id="33" name="그룹 32"/>
          <p:cNvGrpSpPr/>
          <p:nvPr/>
        </p:nvGrpSpPr>
        <p:grpSpPr>
          <a:xfrm>
            <a:off x="268881" y="145918"/>
            <a:ext cx="3093155" cy="646331"/>
            <a:chOff x="268881" y="145918"/>
            <a:chExt cx="3093155" cy="646331"/>
          </a:xfrm>
        </p:grpSpPr>
        <p:sp>
          <p:nvSpPr>
            <p:cNvPr id="29" name="TextBox 28"/>
            <p:cNvSpPr txBox="1"/>
            <p:nvPr/>
          </p:nvSpPr>
          <p:spPr>
            <a:xfrm>
              <a:off x="268881" y="145918"/>
              <a:ext cx="30931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600" b="1" dirty="0" smtClean="0">
                  <a:latin typeface="Arial Black" panose="020B0A04020102020204" pitchFamily="34" charset="0"/>
                </a:rPr>
                <a:t>개요</a:t>
              </a:r>
              <a:endParaRPr lang="ko-KR" altLang="en-US" sz="3600" b="1" dirty="0">
                <a:latin typeface="Arial Black" panose="020B0A04020102020204" pitchFamily="34" charset="0"/>
              </a:endParaRPr>
            </a:p>
          </p:txBody>
        </p:sp>
        <p:cxnSp>
          <p:nvCxnSpPr>
            <p:cNvPr id="30" name="직선 연결선 29"/>
            <p:cNvCxnSpPr/>
            <p:nvPr/>
          </p:nvCxnSpPr>
          <p:spPr>
            <a:xfrm>
              <a:off x="397164" y="757475"/>
              <a:ext cx="90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41023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21" y="1627672"/>
            <a:ext cx="5428383" cy="3944741"/>
          </a:xfrm>
          <a:prstGeom prst="rect">
            <a:avLst/>
          </a:prstGeom>
        </p:spPr>
      </p:pic>
      <p:grpSp>
        <p:nvGrpSpPr>
          <p:cNvPr id="6" name="그룹 5"/>
          <p:cNvGrpSpPr/>
          <p:nvPr/>
        </p:nvGrpSpPr>
        <p:grpSpPr>
          <a:xfrm>
            <a:off x="268881" y="145918"/>
            <a:ext cx="3093155" cy="646331"/>
            <a:chOff x="268881" y="145918"/>
            <a:chExt cx="3093155" cy="646331"/>
          </a:xfrm>
        </p:grpSpPr>
        <p:sp>
          <p:nvSpPr>
            <p:cNvPr id="7" name="TextBox 6"/>
            <p:cNvSpPr txBox="1"/>
            <p:nvPr/>
          </p:nvSpPr>
          <p:spPr>
            <a:xfrm>
              <a:off x="268881" y="145918"/>
              <a:ext cx="30931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600" b="1" smtClean="0">
                  <a:latin typeface="Arial Black" panose="020B0A04020102020204" pitchFamily="34" charset="0"/>
                </a:rPr>
                <a:t>재미 요소</a:t>
              </a:r>
              <a:endParaRPr lang="ko-KR" altLang="en-US" sz="3600" b="1" dirty="0">
                <a:latin typeface="Arial Black" panose="020B0A04020102020204" pitchFamily="34" charset="0"/>
              </a:endParaRPr>
            </a:p>
          </p:txBody>
        </p:sp>
        <p:cxnSp>
          <p:nvCxnSpPr>
            <p:cNvPr id="8" name="직선 연결선 7"/>
            <p:cNvCxnSpPr/>
            <p:nvPr/>
          </p:nvCxnSpPr>
          <p:spPr>
            <a:xfrm>
              <a:off x="397164" y="757475"/>
              <a:ext cx="198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08423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9433" y="1151323"/>
            <a:ext cx="7107226" cy="4583401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21" y="1627672"/>
            <a:ext cx="5428383" cy="3944741"/>
          </a:xfrm>
          <a:prstGeom prst="rect">
            <a:avLst/>
          </a:prstGeom>
        </p:spPr>
      </p:pic>
      <p:grpSp>
        <p:nvGrpSpPr>
          <p:cNvPr id="6" name="그룹 5"/>
          <p:cNvGrpSpPr/>
          <p:nvPr/>
        </p:nvGrpSpPr>
        <p:grpSpPr>
          <a:xfrm>
            <a:off x="268881" y="145918"/>
            <a:ext cx="3093155" cy="646331"/>
            <a:chOff x="268881" y="145918"/>
            <a:chExt cx="3093155" cy="646331"/>
          </a:xfrm>
        </p:grpSpPr>
        <p:sp>
          <p:nvSpPr>
            <p:cNvPr id="7" name="TextBox 6"/>
            <p:cNvSpPr txBox="1"/>
            <p:nvPr/>
          </p:nvSpPr>
          <p:spPr>
            <a:xfrm>
              <a:off x="268881" y="145918"/>
              <a:ext cx="30931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600" b="1" dirty="0" smtClean="0">
                  <a:latin typeface="Arial Black" panose="020B0A04020102020204" pitchFamily="34" charset="0"/>
                </a:rPr>
                <a:t>재미 요소</a:t>
              </a:r>
              <a:endParaRPr lang="ko-KR" altLang="en-US" sz="3600" b="1" dirty="0">
                <a:latin typeface="Arial Black" panose="020B0A04020102020204" pitchFamily="34" charset="0"/>
              </a:endParaRPr>
            </a:p>
          </p:txBody>
        </p:sp>
        <p:cxnSp>
          <p:nvCxnSpPr>
            <p:cNvPr id="8" name="직선 연결선 7"/>
            <p:cNvCxnSpPr/>
            <p:nvPr/>
          </p:nvCxnSpPr>
          <p:spPr>
            <a:xfrm>
              <a:off x="397164" y="757475"/>
              <a:ext cx="198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89212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8">
            <a:extLst>
              <a:ext uri="{FF2B5EF4-FFF2-40B4-BE49-F238E27FC236}">
                <a16:creationId xmlns:a16="http://schemas.microsoft.com/office/drawing/2014/main" id="{6318FB33-6177-4925-9917-5A370AA66915}"/>
              </a:ext>
            </a:extLst>
          </p:cNvPr>
          <p:cNvSpPr txBox="1"/>
          <p:nvPr/>
        </p:nvSpPr>
        <p:spPr>
          <a:xfrm>
            <a:off x="809105" y="2551837"/>
            <a:ext cx="105737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5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수학이 </a:t>
            </a:r>
            <a:r>
              <a:rPr lang="en-US" altLang="ko-KR" sz="5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‘</a:t>
            </a:r>
            <a:r>
              <a:rPr lang="ko-KR" altLang="en-US" sz="5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마법</a:t>
            </a:r>
            <a:r>
              <a:rPr lang="en-US" altLang="ko-KR" sz="5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’</a:t>
            </a:r>
            <a:r>
              <a:rPr lang="ko-KR" altLang="en-US" sz="5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이 되는 </a:t>
            </a:r>
            <a:r>
              <a:rPr lang="ko-KR" altLang="en-US" sz="5400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이세계에</a:t>
            </a:r>
            <a:r>
              <a:rPr lang="ko-KR" altLang="en-US" sz="5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현실 세계의 학생이 떨어진다면</a:t>
            </a:r>
            <a:r>
              <a:rPr lang="en-US" altLang="ko-KR" sz="5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?</a:t>
            </a:r>
            <a:r>
              <a:rPr lang="ko-KR" altLang="en-US" sz="5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endParaRPr lang="ko-KR" altLang="en-US" sz="5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268881" y="145918"/>
            <a:ext cx="3093155" cy="646331"/>
            <a:chOff x="268881" y="145918"/>
            <a:chExt cx="3093155" cy="646331"/>
          </a:xfrm>
        </p:grpSpPr>
        <p:sp>
          <p:nvSpPr>
            <p:cNvPr id="4" name="TextBox 3"/>
            <p:cNvSpPr txBox="1"/>
            <p:nvPr/>
          </p:nvSpPr>
          <p:spPr>
            <a:xfrm>
              <a:off x="268881" y="145918"/>
              <a:ext cx="30931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600" b="1" dirty="0" smtClean="0">
                  <a:latin typeface="Arial Black" panose="020B0A04020102020204" pitchFamily="34" charset="0"/>
                </a:rPr>
                <a:t>재미 요소</a:t>
              </a:r>
              <a:endParaRPr lang="ko-KR" altLang="en-US" sz="3600" b="1" dirty="0">
                <a:latin typeface="Arial Black" panose="020B0A04020102020204" pitchFamily="34" charset="0"/>
              </a:endParaRPr>
            </a:p>
          </p:txBody>
        </p:sp>
        <p:cxnSp>
          <p:nvCxnSpPr>
            <p:cNvPr id="5" name="직선 연결선 4"/>
            <p:cNvCxnSpPr/>
            <p:nvPr/>
          </p:nvCxnSpPr>
          <p:spPr>
            <a:xfrm>
              <a:off x="397164" y="757475"/>
              <a:ext cx="198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63502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8">
            <a:extLst>
              <a:ext uri="{FF2B5EF4-FFF2-40B4-BE49-F238E27FC236}">
                <a16:creationId xmlns:a16="http://schemas.microsoft.com/office/drawing/2014/main" id="{6318FB33-6177-4925-9917-5A370AA66915}"/>
              </a:ext>
            </a:extLst>
          </p:cNvPr>
          <p:cNvSpPr txBox="1"/>
          <p:nvPr/>
        </p:nvSpPr>
        <p:spPr>
          <a:xfrm>
            <a:off x="809104" y="1593734"/>
            <a:ext cx="105737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5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판타지 세계에 떨어진 </a:t>
            </a:r>
            <a:r>
              <a:rPr lang="en-US" altLang="ko-KR" sz="5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‘</a:t>
            </a:r>
            <a:r>
              <a:rPr lang="ko-KR" altLang="en-US" sz="5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수학자</a:t>
            </a:r>
            <a:r>
              <a:rPr lang="en-US" altLang="ko-KR" sz="5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’</a:t>
            </a:r>
            <a:endParaRPr lang="ko-KR" altLang="en-US" sz="5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268881" y="145918"/>
            <a:ext cx="3093155" cy="646331"/>
            <a:chOff x="268881" y="145918"/>
            <a:chExt cx="3093155" cy="646331"/>
          </a:xfrm>
        </p:grpSpPr>
        <p:sp>
          <p:nvSpPr>
            <p:cNvPr id="10" name="TextBox 9"/>
            <p:cNvSpPr txBox="1"/>
            <p:nvPr/>
          </p:nvSpPr>
          <p:spPr>
            <a:xfrm>
              <a:off x="268881" y="145918"/>
              <a:ext cx="30931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600" b="1" dirty="0" smtClean="0">
                  <a:latin typeface="Arial Black" panose="020B0A04020102020204" pitchFamily="34" charset="0"/>
                </a:rPr>
                <a:t>설정</a:t>
              </a:r>
              <a:endParaRPr lang="ko-KR" altLang="en-US" sz="3600" b="1" dirty="0">
                <a:latin typeface="Arial Black" panose="020B0A04020102020204" pitchFamily="34" charset="0"/>
              </a:endParaRPr>
            </a:p>
          </p:txBody>
        </p:sp>
        <p:cxnSp>
          <p:nvCxnSpPr>
            <p:cNvPr id="11" name="직선 연결선 10"/>
            <p:cNvCxnSpPr/>
            <p:nvPr/>
          </p:nvCxnSpPr>
          <p:spPr>
            <a:xfrm>
              <a:off x="397164" y="757475"/>
              <a:ext cx="90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8">
            <a:extLst>
              <a:ext uri="{FF2B5EF4-FFF2-40B4-BE49-F238E27FC236}">
                <a16:creationId xmlns:a16="http://schemas.microsoft.com/office/drawing/2014/main" id="{6318FB33-6177-4925-9917-5A370AA66915}"/>
              </a:ext>
            </a:extLst>
          </p:cNvPr>
          <p:cNvSpPr txBox="1"/>
          <p:nvPr/>
        </p:nvSpPr>
        <p:spPr>
          <a:xfrm>
            <a:off x="587433" y="3087770"/>
            <a:ext cx="105737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48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모든 </a:t>
            </a:r>
            <a:r>
              <a:rPr lang="ko-KR" altLang="en-US" sz="4800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대륙인들의</a:t>
            </a:r>
            <a:r>
              <a:rPr lang="ko-KR" altLang="en-US" sz="48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4800" u="sng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존경</a:t>
            </a:r>
            <a:r>
              <a:rPr lang="ko-KR" altLang="en-US" sz="48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을 받는 위치</a:t>
            </a:r>
            <a:endParaRPr lang="ko-KR" altLang="en-US" sz="48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6318FB33-6177-4925-9917-5A370AA66915}"/>
              </a:ext>
            </a:extLst>
          </p:cNvPr>
          <p:cNvSpPr txBox="1"/>
          <p:nvPr/>
        </p:nvSpPr>
        <p:spPr>
          <a:xfrm>
            <a:off x="847164" y="4489473"/>
            <a:ext cx="105737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4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대륙에 터진 문제들을 해결해주는 </a:t>
            </a:r>
            <a:r>
              <a:rPr lang="ko-KR" altLang="en-US" sz="4400" u="sng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해결사</a:t>
            </a:r>
            <a:endParaRPr lang="ko-KR" altLang="en-US" sz="4400" u="sng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46298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268881" y="145918"/>
            <a:ext cx="3093155" cy="646331"/>
            <a:chOff x="268881" y="145918"/>
            <a:chExt cx="3093155" cy="646331"/>
          </a:xfrm>
        </p:grpSpPr>
        <p:sp>
          <p:nvSpPr>
            <p:cNvPr id="4" name="TextBox 3"/>
            <p:cNvSpPr txBox="1"/>
            <p:nvPr/>
          </p:nvSpPr>
          <p:spPr>
            <a:xfrm>
              <a:off x="268881" y="145918"/>
              <a:ext cx="30931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600" b="1" dirty="0" smtClean="0">
                  <a:latin typeface="Arial Black" panose="020B0A04020102020204" pitchFamily="34" charset="0"/>
                </a:rPr>
                <a:t>게임 플레이</a:t>
              </a:r>
              <a:endParaRPr lang="ko-KR" altLang="en-US" sz="3600" b="1" dirty="0">
                <a:latin typeface="Arial Black" panose="020B0A04020102020204" pitchFamily="34" charset="0"/>
              </a:endParaRPr>
            </a:p>
          </p:txBody>
        </p:sp>
        <p:cxnSp>
          <p:nvCxnSpPr>
            <p:cNvPr id="5" name="직선 연결선 4"/>
            <p:cNvCxnSpPr/>
            <p:nvPr/>
          </p:nvCxnSpPr>
          <p:spPr>
            <a:xfrm>
              <a:off x="397164" y="757475"/>
              <a:ext cx="234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881" y="967941"/>
            <a:ext cx="5581650" cy="54578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18036" y="1259169"/>
            <a:ext cx="24833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u="sng" dirty="0" smtClean="0">
                <a:latin typeface="+mn-ea"/>
              </a:rPr>
              <a:t>고정 </a:t>
            </a:r>
            <a:r>
              <a:rPr lang="ko-KR" altLang="en-US" sz="2000" b="1" u="sng" dirty="0" err="1" smtClean="0">
                <a:latin typeface="+mn-ea"/>
              </a:rPr>
              <a:t>맵</a:t>
            </a:r>
            <a:r>
              <a:rPr lang="ko-KR" altLang="en-US" sz="2000" dirty="0" err="1" smtClean="0">
                <a:latin typeface="+mn-ea"/>
              </a:rPr>
              <a:t>이</a:t>
            </a:r>
            <a:r>
              <a:rPr lang="ko-KR" altLang="en-US" sz="2000" dirty="0" smtClean="0">
                <a:latin typeface="+mn-ea"/>
              </a:rPr>
              <a:t> 주어지고</a:t>
            </a:r>
            <a:r>
              <a:rPr lang="en-US" altLang="ko-KR" sz="2000" dirty="0" smtClean="0">
                <a:latin typeface="+mn-ea"/>
              </a:rPr>
              <a:t>,</a:t>
            </a:r>
            <a:endParaRPr lang="ko-KR" altLang="en-US" sz="2000" dirty="0">
              <a:latin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912813" y="1849907"/>
            <a:ext cx="464742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 smtClean="0">
                <a:latin typeface="+mn-ea"/>
              </a:rPr>
              <a:t>이번 스테이지에 나오는 </a:t>
            </a:r>
            <a:r>
              <a:rPr lang="ko-KR" altLang="en-US" sz="2000" b="1" u="sng" dirty="0" smtClean="0">
                <a:latin typeface="+mn-ea"/>
              </a:rPr>
              <a:t>몬스터의 설명</a:t>
            </a:r>
            <a:endParaRPr lang="en-US" altLang="ko-KR" sz="2000" b="1" u="sng" dirty="0" smtClean="0">
              <a:latin typeface="+mn-ea"/>
            </a:endParaRPr>
          </a:p>
          <a:p>
            <a:r>
              <a:rPr lang="en-US" altLang="ko-KR" sz="2000" dirty="0" smtClean="0">
                <a:latin typeface="+mn-ea"/>
              </a:rPr>
              <a:t>(</a:t>
            </a:r>
            <a:r>
              <a:rPr lang="ko-KR" altLang="en-US" sz="2000" dirty="0" smtClean="0">
                <a:latin typeface="+mn-ea"/>
              </a:rPr>
              <a:t>체력</a:t>
            </a:r>
            <a:r>
              <a:rPr lang="en-US" altLang="ko-KR" sz="2000" dirty="0" smtClean="0">
                <a:latin typeface="+mn-ea"/>
              </a:rPr>
              <a:t>, </a:t>
            </a:r>
            <a:r>
              <a:rPr lang="ko-KR" altLang="en-US" sz="2000" dirty="0" smtClean="0">
                <a:latin typeface="+mn-ea"/>
              </a:rPr>
              <a:t>특징</a:t>
            </a:r>
            <a:r>
              <a:rPr lang="en-US" altLang="ko-KR" sz="2000" dirty="0" smtClean="0">
                <a:latin typeface="+mn-ea"/>
              </a:rPr>
              <a:t>, </a:t>
            </a:r>
            <a:r>
              <a:rPr lang="ko-KR" altLang="en-US" sz="2000" dirty="0" smtClean="0">
                <a:latin typeface="+mn-ea"/>
              </a:rPr>
              <a:t>종류</a:t>
            </a:r>
            <a:r>
              <a:rPr lang="en-US" altLang="ko-KR" sz="2000" dirty="0" smtClean="0">
                <a:latin typeface="+mn-ea"/>
              </a:rPr>
              <a:t>)</a:t>
            </a:r>
            <a:r>
              <a:rPr lang="ko-KR" altLang="en-US" sz="2000" dirty="0" smtClean="0">
                <a:latin typeface="+mn-ea"/>
              </a:rPr>
              <a:t>이 보이고</a:t>
            </a:r>
            <a:endParaRPr lang="ko-KR" altLang="en-US" sz="2000" dirty="0"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12813" y="2746445"/>
            <a:ext cx="22268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u="sng" dirty="0" smtClean="0">
                <a:latin typeface="+mn-ea"/>
              </a:rPr>
              <a:t>수학 문제</a:t>
            </a:r>
            <a:r>
              <a:rPr lang="ko-KR" altLang="en-US" sz="2000" dirty="0" smtClean="0">
                <a:latin typeface="+mn-ea"/>
              </a:rPr>
              <a:t>를 푼다</a:t>
            </a:r>
            <a:r>
              <a:rPr lang="en-US" altLang="ko-KR" sz="2000" dirty="0" smtClean="0">
                <a:latin typeface="+mn-ea"/>
              </a:rPr>
              <a:t>.</a:t>
            </a:r>
            <a:endParaRPr lang="ko-KR" altLang="en-US" sz="2000" dirty="0">
              <a:latin typeface="+mn-ea"/>
            </a:endParaRPr>
          </a:p>
        </p:txBody>
      </p:sp>
      <p:grpSp>
        <p:nvGrpSpPr>
          <p:cNvPr id="20" name="그룹 19"/>
          <p:cNvGrpSpPr/>
          <p:nvPr/>
        </p:nvGrpSpPr>
        <p:grpSpPr>
          <a:xfrm>
            <a:off x="7385403" y="3351080"/>
            <a:ext cx="4549803" cy="778374"/>
            <a:chOff x="7332671" y="3479033"/>
            <a:chExt cx="4549803" cy="778374"/>
          </a:xfrm>
        </p:grpSpPr>
        <p:sp>
          <p:nvSpPr>
            <p:cNvPr id="15" name="TextBox 14"/>
            <p:cNvSpPr txBox="1"/>
            <p:nvPr/>
          </p:nvSpPr>
          <p:spPr>
            <a:xfrm>
              <a:off x="7332671" y="3479033"/>
              <a:ext cx="238078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 dirty="0" smtClean="0">
                  <a:latin typeface="+mn-ea"/>
                </a:rPr>
                <a:t>산술 </a:t>
              </a:r>
              <a:r>
                <a:rPr lang="en-US" altLang="ko-KR" sz="2000" b="1" dirty="0" smtClean="0">
                  <a:latin typeface="+mn-ea"/>
                </a:rPr>
                <a:t>– </a:t>
              </a:r>
              <a:r>
                <a:rPr lang="ko-KR" altLang="en-US" sz="2000" b="1" dirty="0" smtClean="0">
                  <a:latin typeface="+mn-ea"/>
                </a:rPr>
                <a:t>에너지 마법</a:t>
              </a:r>
              <a:endParaRPr lang="ko-KR" altLang="en-US" sz="2000" b="1" dirty="0">
                <a:latin typeface="+mn-ea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544427" y="3888075"/>
              <a:ext cx="43380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smtClean="0">
                  <a:latin typeface="+mn-ea"/>
                </a:rPr>
                <a:t>몬스터를 공격하는 타워를 지을 수 있다</a:t>
              </a:r>
              <a:r>
                <a:rPr lang="en-US" altLang="ko-KR" dirty="0" smtClean="0">
                  <a:latin typeface="+mn-ea"/>
                </a:rPr>
                <a:t>.</a:t>
              </a:r>
              <a:endParaRPr lang="ko-KR" altLang="en-US" dirty="0">
                <a:latin typeface="+mn-ea"/>
              </a:endParaRPr>
            </a:p>
          </p:txBody>
        </p:sp>
      </p:grpSp>
      <p:grpSp>
        <p:nvGrpSpPr>
          <p:cNvPr id="21" name="그룹 20"/>
          <p:cNvGrpSpPr/>
          <p:nvPr/>
        </p:nvGrpSpPr>
        <p:grpSpPr>
          <a:xfrm>
            <a:off x="7385403" y="4335290"/>
            <a:ext cx="4094391" cy="1121312"/>
            <a:chOff x="7408171" y="4504280"/>
            <a:chExt cx="4094391" cy="1121312"/>
          </a:xfrm>
        </p:grpSpPr>
        <p:sp>
          <p:nvSpPr>
            <p:cNvPr id="17" name="TextBox 16"/>
            <p:cNvSpPr txBox="1"/>
            <p:nvPr/>
          </p:nvSpPr>
          <p:spPr>
            <a:xfrm>
              <a:off x="7544427" y="4979261"/>
              <a:ext cx="395813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smtClean="0">
                  <a:latin typeface="+mn-ea"/>
                </a:rPr>
                <a:t>벽</a:t>
              </a:r>
              <a:r>
                <a:rPr lang="en-US" altLang="ko-KR" dirty="0" smtClean="0">
                  <a:latin typeface="+mn-ea"/>
                </a:rPr>
                <a:t>, </a:t>
              </a:r>
              <a:r>
                <a:rPr lang="ko-KR" altLang="en-US" dirty="0" smtClean="0">
                  <a:latin typeface="+mn-ea"/>
                </a:rPr>
                <a:t>늪 등 몬스터의 이동을 방해하는 </a:t>
              </a:r>
              <a:endParaRPr lang="en-US" altLang="ko-KR" dirty="0" smtClean="0">
                <a:latin typeface="+mn-ea"/>
              </a:endParaRPr>
            </a:p>
            <a:p>
              <a:r>
                <a:rPr lang="ko-KR" altLang="en-US" dirty="0" smtClean="0">
                  <a:latin typeface="+mn-ea"/>
                </a:rPr>
                <a:t>오브젝트를 지을 수 있다</a:t>
              </a:r>
              <a:r>
                <a:rPr lang="en-US" altLang="ko-KR" dirty="0" smtClean="0">
                  <a:latin typeface="+mn-ea"/>
                </a:rPr>
                <a:t>.</a:t>
              </a:r>
              <a:endParaRPr lang="ko-KR" altLang="en-US" dirty="0">
                <a:latin typeface="+mn-ea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408171" y="4504280"/>
              <a:ext cx="212429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 dirty="0" smtClean="0">
                  <a:latin typeface="+mn-ea"/>
                </a:rPr>
                <a:t>기하 </a:t>
              </a:r>
              <a:r>
                <a:rPr lang="en-US" altLang="ko-KR" sz="2000" b="1" dirty="0" smtClean="0">
                  <a:latin typeface="+mn-ea"/>
                </a:rPr>
                <a:t>– </a:t>
              </a:r>
              <a:r>
                <a:rPr lang="ko-KR" altLang="en-US" sz="2000" b="1" dirty="0" smtClean="0">
                  <a:latin typeface="+mn-ea"/>
                </a:rPr>
                <a:t>공간 마법</a:t>
              </a:r>
              <a:endParaRPr lang="ko-KR" altLang="en-US" sz="2000" b="1" dirty="0">
                <a:latin typeface="+mn-ea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6912813" y="5650139"/>
            <a:ext cx="18133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u="sng" dirty="0" smtClean="0">
                <a:latin typeface="+mn-ea"/>
              </a:rPr>
              <a:t>스테이지 시작</a:t>
            </a:r>
            <a:endParaRPr lang="ko-KR" altLang="en-US" sz="2000" b="1" u="sng" dirty="0">
              <a:latin typeface="+mn-ea"/>
            </a:endParaRPr>
          </a:p>
        </p:txBody>
      </p:sp>
      <p:cxnSp>
        <p:nvCxnSpPr>
          <p:cNvPr id="23" name="꺾인 연결선 22"/>
          <p:cNvCxnSpPr>
            <a:stCxn id="19" idx="1"/>
            <a:endCxn id="14" idx="1"/>
          </p:cNvCxnSpPr>
          <p:nvPr/>
        </p:nvCxnSpPr>
        <p:spPr>
          <a:xfrm rot="10800000">
            <a:off x="6912813" y="2946500"/>
            <a:ext cx="12700" cy="2903694"/>
          </a:xfrm>
          <a:prstGeom prst="bentConnector3">
            <a:avLst>
              <a:gd name="adj1" fmla="val 3981819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83310" y="4198292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반복</a:t>
            </a:r>
            <a:endParaRPr lang="ko-KR" altLang="en-US" sz="20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07876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/>
          <p:cNvGrpSpPr/>
          <p:nvPr/>
        </p:nvGrpSpPr>
        <p:grpSpPr>
          <a:xfrm>
            <a:off x="268881" y="145918"/>
            <a:ext cx="3093155" cy="646331"/>
            <a:chOff x="268881" y="145918"/>
            <a:chExt cx="3093155" cy="646331"/>
          </a:xfrm>
        </p:grpSpPr>
        <p:sp>
          <p:nvSpPr>
            <p:cNvPr id="24" name="TextBox 23"/>
            <p:cNvSpPr txBox="1"/>
            <p:nvPr/>
          </p:nvSpPr>
          <p:spPr>
            <a:xfrm>
              <a:off x="268881" y="145918"/>
              <a:ext cx="30931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600" b="1" dirty="0" smtClean="0">
                  <a:latin typeface="Arial Black" panose="020B0A04020102020204" pitchFamily="34" charset="0"/>
                </a:rPr>
                <a:t>차별 </a:t>
              </a:r>
              <a:r>
                <a:rPr lang="ko-KR" altLang="en-US" sz="3600" b="1" dirty="0" smtClean="0">
                  <a:latin typeface="Arial Black" panose="020B0A04020102020204" pitchFamily="34" charset="0"/>
                </a:rPr>
                <a:t>요소</a:t>
              </a:r>
              <a:endParaRPr lang="ko-KR" altLang="en-US" sz="3600" b="1" dirty="0">
                <a:latin typeface="Arial Black" panose="020B0A04020102020204" pitchFamily="34" charset="0"/>
              </a:endParaRPr>
            </a:p>
          </p:txBody>
        </p:sp>
        <p:cxnSp>
          <p:nvCxnSpPr>
            <p:cNvPr id="26" name="직선 연결선 25"/>
            <p:cNvCxnSpPr/>
            <p:nvPr/>
          </p:nvCxnSpPr>
          <p:spPr>
            <a:xfrm>
              <a:off x="397164" y="757475"/>
              <a:ext cx="198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/>
          <p:cNvSpPr txBox="1"/>
          <p:nvPr/>
        </p:nvSpPr>
        <p:spPr>
          <a:xfrm>
            <a:off x="830586" y="2800449"/>
            <a:ext cx="3093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smtClean="0">
                <a:latin typeface="Arial Black" panose="020B0A04020102020204" pitchFamily="34" charset="0"/>
              </a:rPr>
              <a:t>학교 </a:t>
            </a:r>
            <a:r>
              <a:rPr lang="ko-KR" altLang="en-US" sz="3600" b="1" dirty="0" err="1" smtClean="0">
                <a:latin typeface="Arial Black" panose="020B0A04020102020204" pitchFamily="34" charset="0"/>
              </a:rPr>
              <a:t>랭킹전</a:t>
            </a:r>
            <a:endParaRPr lang="ko-KR" altLang="en-US" sz="3600" b="1" dirty="0">
              <a:latin typeface="Arial Black" panose="020B0A040201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76462" y="1971947"/>
            <a:ext cx="30931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 smtClean="0">
                <a:latin typeface="Arial Black" panose="020B0A04020102020204" pitchFamily="34" charset="0"/>
              </a:rPr>
              <a:t>출판사와의 </a:t>
            </a:r>
            <a:r>
              <a:rPr lang="ko-KR" altLang="en-US" sz="3600" b="1" dirty="0" err="1" smtClean="0">
                <a:latin typeface="Arial Black" panose="020B0A04020102020204" pitchFamily="34" charset="0"/>
              </a:rPr>
              <a:t>콜라보</a:t>
            </a:r>
            <a:endParaRPr lang="ko-KR" altLang="en-US" sz="36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646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268881" y="145918"/>
            <a:ext cx="3093155" cy="646331"/>
            <a:chOff x="268881" y="145918"/>
            <a:chExt cx="3093155" cy="646331"/>
          </a:xfrm>
        </p:grpSpPr>
        <p:sp>
          <p:nvSpPr>
            <p:cNvPr id="3" name="TextBox 2"/>
            <p:cNvSpPr txBox="1"/>
            <p:nvPr/>
          </p:nvSpPr>
          <p:spPr>
            <a:xfrm>
              <a:off x="268881" y="145918"/>
              <a:ext cx="30931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600" b="1" dirty="0" smtClean="0">
                  <a:latin typeface="Arial Black" panose="020B0A04020102020204" pitchFamily="34" charset="0"/>
                </a:rPr>
                <a:t>수익화</a:t>
              </a:r>
              <a:endParaRPr lang="ko-KR" altLang="en-US" sz="3600" b="1" dirty="0">
                <a:latin typeface="Arial Black" panose="020B0A04020102020204" pitchFamily="34" charset="0"/>
              </a:endParaRPr>
            </a:p>
          </p:txBody>
        </p:sp>
        <p:cxnSp>
          <p:nvCxnSpPr>
            <p:cNvPr id="4" name="직선 연결선 3"/>
            <p:cNvCxnSpPr/>
            <p:nvPr/>
          </p:nvCxnSpPr>
          <p:spPr>
            <a:xfrm>
              <a:off x="397164" y="757475"/>
              <a:ext cx="135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2254833" y="2104951"/>
            <a:ext cx="4403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 smtClean="0">
                <a:latin typeface="Arial Black" panose="020B0A04020102020204" pitchFamily="34" charset="0"/>
              </a:rPr>
              <a:t>출판사 </a:t>
            </a:r>
            <a:r>
              <a:rPr lang="ko-KR" altLang="en-US" sz="3600" b="1" smtClean="0">
                <a:latin typeface="Arial Black" panose="020B0A04020102020204" pitchFamily="34" charset="0"/>
              </a:rPr>
              <a:t>솔루션 </a:t>
            </a:r>
            <a:r>
              <a:rPr lang="ko-KR" altLang="en-US" sz="3600" b="1" smtClean="0">
                <a:latin typeface="Arial Black" panose="020B0A04020102020204" pitchFamily="34" charset="0"/>
              </a:rPr>
              <a:t>제공</a:t>
            </a:r>
            <a:endParaRPr lang="ko-KR" altLang="en-US" sz="3600" b="1" dirty="0">
              <a:latin typeface="Arial Black" panose="020B0A040201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54833" y="3662202"/>
            <a:ext cx="4711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>
                <a:latin typeface="Arial Black" panose="020B0A04020102020204" pitchFamily="34" charset="0"/>
              </a:rPr>
              <a:t>15</a:t>
            </a:r>
            <a:r>
              <a:rPr lang="ko-KR" altLang="en-US" sz="3600" b="1" dirty="0" smtClean="0">
                <a:latin typeface="Arial Black" panose="020B0A04020102020204" pitchFamily="34" charset="0"/>
              </a:rPr>
              <a:t>페이지</a:t>
            </a:r>
            <a:r>
              <a:rPr lang="en-US" altLang="ko-KR" sz="3600" b="1" dirty="0" smtClean="0">
                <a:latin typeface="Arial Black" panose="020B0A04020102020204" pitchFamily="34" charset="0"/>
              </a:rPr>
              <a:t>~35</a:t>
            </a:r>
            <a:r>
              <a:rPr lang="ko-KR" altLang="en-US" sz="3600" b="1" dirty="0" smtClean="0">
                <a:latin typeface="Arial Black" panose="020B0A04020102020204" pitchFamily="34" charset="0"/>
              </a:rPr>
              <a:t>페이지</a:t>
            </a:r>
            <a:endParaRPr lang="ko-KR" altLang="en-US" sz="36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2720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268881" y="145918"/>
            <a:ext cx="3093155" cy="646331"/>
            <a:chOff x="268881" y="145918"/>
            <a:chExt cx="3093155" cy="646331"/>
          </a:xfrm>
        </p:grpSpPr>
        <p:sp>
          <p:nvSpPr>
            <p:cNvPr id="6" name="TextBox 5"/>
            <p:cNvSpPr txBox="1"/>
            <p:nvPr/>
          </p:nvSpPr>
          <p:spPr>
            <a:xfrm>
              <a:off x="268881" y="145918"/>
              <a:ext cx="30931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600" b="1" dirty="0" smtClean="0">
                  <a:latin typeface="Arial Black" panose="020B0A04020102020204" pitchFamily="34" charset="0"/>
                </a:rPr>
                <a:t>제작 계획</a:t>
              </a:r>
              <a:endParaRPr lang="ko-KR" altLang="en-US" sz="3600" b="1" dirty="0">
                <a:latin typeface="Arial Black" panose="020B0A04020102020204" pitchFamily="34" charset="0"/>
              </a:endParaRPr>
            </a:p>
          </p:txBody>
        </p:sp>
        <p:cxnSp>
          <p:nvCxnSpPr>
            <p:cNvPr id="7" name="직선 연결선 6"/>
            <p:cNvCxnSpPr/>
            <p:nvPr/>
          </p:nvCxnSpPr>
          <p:spPr>
            <a:xfrm>
              <a:off x="397164" y="757475"/>
              <a:ext cx="198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74735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</TotalTime>
  <Words>171</Words>
  <Application>Microsoft Office PowerPoint</Application>
  <PresentationFormat>와이드스크린</PresentationFormat>
  <Paragraphs>47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HY견고딕</vt:lpstr>
      <vt:lpstr>맑은 고딕</vt:lpstr>
      <vt:lpstr>Arial</vt:lpstr>
      <vt:lpstr>Arial Black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20</cp:revision>
  <dcterms:created xsi:type="dcterms:W3CDTF">2020-07-25T03:46:25Z</dcterms:created>
  <dcterms:modified xsi:type="dcterms:W3CDTF">2020-07-31T08:39:06Z</dcterms:modified>
</cp:coreProperties>
</file>